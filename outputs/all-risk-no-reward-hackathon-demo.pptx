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219bbc3b00424d" /><Relationship Type="http://schemas.openxmlformats.org/officeDocument/2006/relationships/extended-properties" Target="/docProps/app.xml" Id="Rd256f8cf861f4796" /><Relationship Type="http://schemas.openxmlformats.org/officeDocument/2006/relationships/officeDocument" Target="/ppt/presentation.xml" Id="R5699e4a303e44b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5f6b3db3dc405a"/>
  </p:sldMasterIdLst>
  <p:notesMasterIdLst>
    <p:notesMasterId xmlns:r="http://schemas.openxmlformats.org/officeDocument/2006/relationships" r:id="R53e6ad4912424992"/>
  </p:notesMasterIdLst>
  <p:sldIdLst>
    <p:sldId xmlns:r="http://schemas.openxmlformats.org/officeDocument/2006/relationships" id="256" r:id="R9a75cf4955af4bb3"/>
    <p:sldId xmlns:r="http://schemas.openxmlformats.org/officeDocument/2006/relationships" id="257" r:id="Rd909569f7092448c"/>
    <p:sldId xmlns:r="http://schemas.openxmlformats.org/officeDocument/2006/relationships" id="258" r:id="R6dfb5ef5bcc8487f"/>
    <p:sldId xmlns:r="http://schemas.openxmlformats.org/officeDocument/2006/relationships" id="259" r:id="Ra0b5648a6fa6435d"/>
    <p:sldId xmlns:r="http://schemas.openxmlformats.org/officeDocument/2006/relationships" id="260" r:id="R7ec9ff42e719444d"/>
    <p:sldId xmlns:r="http://schemas.openxmlformats.org/officeDocument/2006/relationships" id="261" r:id="Rf73b22c249794a8b"/>
    <p:sldId xmlns:r="http://schemas.openxmlformats.org/officeDocument/2006/relationships" id="262" r:id="R2f4b2660ab784e20"/>
    <p:sldId xmlns:r="http://schemas.openxmlformats.org/officeDocument/2006/relationships" id="263" r:id="Ra9d27ebe05e24be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45f36f9c474636" /><Relationship Type="http://schemas.openxmlformats.org/officeDocument/2006/relationships/slideMaster" Target="/ppt/slideMasters/slideMaster1.xml" Id="Re45f6b3db3dc405a" /><Relationship Type="http://schemas.openxmlformats.org/officeDocument/2006/relationships/notesMaster" Target="/ppt/notesMasters/notesMaster1.xml" Id="R53e6ad4912424992" /><Relationship Type="http://schemas.openxmlformats.org/officeDocument/2006/relationships/presProps" Target="/ppt/presProps.xml" Id="R0eb41d8f7025460d" /><Relationship Type="http://schemas.openxmlformats.org/officeDocument/2006/relationships/tableStyles" Target="/ppt/tableStyles.xml" Id="R1da7c7b567ea44d6" /><Relationship Type="http://schemas.openxmlformats.org/officeDocument/2006/relationships/slide" Target="/ppt/slides/slide1.xml" Id="R9a75cf4955af4bb3" /><Relationship Type="http://schemas.openxmlformats.org/officeDocument/2006/relationships/slide" Target="/ppt/slides/slide2.xml" Id="Rd909569f7092448c" /><Relationship Type="http://schemas.openxmlformats.org/officeDocument/2006/relationships/slide" Target="/ppt/slides/slide3.xml" Id="R6dfb5ef5bcc8487f" /><Relationship Type="http://schemas.openxmlformats.org/officeDocument/2006/relationships/slide" Target="/ppt/slides/slide4.xml" Id="Ra0b5648a6fa6435d" /><Relationship Type="http://schemas.openxmlformats.org/officeDocument/2006/relationships/slide" Target="/ppt/slides/slide5.xml" Id="R7ec9ff42e719444d" /><Relationship Type="http://schemas.openxmlformats.org/officeDocument/2006/relationships/slide" Target="/ppt/slides/slide6.xml" Id="Rf73b22c249794a8b" /><Relationship Type="http://schemas.openxmlformats.org/officeDocument/2006/relationships/slide" Target="/ppt/slides/slide7.xml" Id="R2f4b2660ab784e20" /><Relationship Type="http://schemas.openxmlformats.org/officeDocument/2006/relationships/slide" Target="/ppt/slides/slide8.xml" Id="Ra9d27ebe05e24b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2e28a2280e47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2b0ec3302146e6" /><Relationship Type="http://schemas.openxmlformats.org/officeDocument/2006/relationships/notesMaster" Target="/ppt/notesMasters/notesMaster1.xml" Id="R30ccff82779c4c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4aeba58c7547ac" /><Relationship Type="http://schemas.openxmlformats.org/officeDocument/2006/relationships/notesMaster" Target="/ppt/notesMasters/notesMaster1.xml" Id="R7b624753e63646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fd9eaf5c5d4de9" /><Relationship Type="http://schemas.openxmlformats.org/officeDocument/2006/relationships/notesMaster" Target="/ppt/notesMasters/notesMaster1.xml" Id="R7c2ee798c6894d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23b8020c014e4a" /><Relationship Type="http://schemas.openxmlformats.org/officeDocument/2006/relationships/notesMaster" Target="/ppt/notesMasters/notesMaster1.xml" Id="Rf452720b7ca44b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342e41b63b40b1" /><Relationship Type="http://schemas.openxmlformats.org/officeDocument/2006/relationships/notesMaster" Target="/ppt/notesMasters/notesMaster1.xml" Id="R6194f076d1fb40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7a8a6a5ccd4171" /><Relationship Type="http://schemas.openxmlformats.org/officeDocument/2006/relationships/notesMaster" Target="/ppt/notesMasters/notesMaster1.xml" Id="R63d807e79adc4b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4b5f3b2f884a33" /><Relationship Type="http://schemas.openxmlformats.org/officeDocument/2006/relationships/notesMaster" Target="/ppt/notesMasters/notesMaster1.xml" Id="R9ccfb1a8ef5c42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8cd573fe744d2f" /><Relationship Type="http://schemas.openxmlformats.org/officeDocument/2006/relationships/notesMaster" Target="/ppt/notesMasters/notesMaster1.xml" Id="R4a5b429765a74a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Risk, No Reward is a consent-first social courage app. It turns one healthy, uncomfortable action into a daily game—without public shame, forced posting, or reckless dares.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problem is not a lack of advice. It is the infinite delay between intention and action. The app closes that gap with a randomized daytime unlock, one concrete task, and a real deadline.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entire product is one short loop: the app deals one challenge, the user records privacy-safe proof, and the system scores the evidence. The result feeds points, streaks, levels, milestones, and a private history—not a public social 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 is designed to be useful without becoming surveillance. In local demo mode, a transparent concrete-detail heuristic runs in the browser. In hosted mode, the user must explicitly consent before Gemini receives the note or optional media through the secure backend proxy.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app does not pretend every attempt is perfect. Partial or missed challenges create a private recovery task. Users get two irreversible, no-repeat dice rerolls that can get easier or harder. Completing the recovery—or spending a lifeline—closes the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intentionally unhinged layer. A suspiciously fast completion can trigger one optional bonus challenge. Finish it, then the game awards either a banked recovery lifeline or—very scientifically—absolutely nothing. Either way, the brave rep still 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demo is local-first and requires no backend or API key. Underneath, the same product supports InsForge authentication, row-level security, scheduled maintenance, and a secure Gemini verification proxy. The agency rules remain identical in both modes.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close is simple: avoidance has a deadline. Now I would leave the deck, open the working demo, and complete the product loop live.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7135b01a964d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d968186cdd4b8d" /><Relationship Type="http://schemas.openxmlformats.org/officeDocument/2006/relationships/slideLayout" Target="/ppt/slideLayouts/slideLayout1.xml" Id="R03e4c801964b46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e4c801964b46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acc956e2147b9" /><Relationship Type="http://schemas.openxmlformats.org/officeDocument/2006/relationships/image" Target="/ppt/media/image.png" Id="R81e0d022e86f41c7" /><Relationship Type="http://schemas.openxmlformats.org/officeDocument/2006/relationships/notesSlide" Target="/ppt/notesSlides/notesSlide1.xml" Id="Rddd0236ffda443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62835db9b4e45" /><Relationship Type="http://schemas.openxmlformats.org/officeDocument/2006/relationships/image" Target="/ppt/media/image2.png" Id="R346c6a05a3db4aa3" /><Relationship Type="http://schemas.openxmlformats.org/officeDocument/2006/relationships/notesSlide" Target="/ppt/notesSlides/notesSlide2.xml" Id="R47b287d555e64c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7d35ce4304b13" /><Relationship Type="http://schemas.openxmlformats.org/officeDocument/2006/relationships/image" Target="/ppt/media/image3.png" Id="R7a90e0af543e4d38" /><Relationship Type="http://schemas.openxmlformats.org/officeDocument/2006/relationships/image" Target="/ppt/media/image4.png" Id="R86fba4ba253042c1" /><Relationship Type="http://schemas.openxmlformats.org/officeDocument/2006/relationships/image" Target="/ppt/media/image5.png" Id="Rcd65e6504a984d8a" /><Relationship Type="http://schemas.openxmlformats.org/officeDocument/2006/relationships/notesSlide" Target="/ppt/notesSlides/notesSlide3.xml" Id="R69267d9097824e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4d997c99f45e5" /><Relationship Type="http://schemas.openxmlformats.org/officeDocument/2006/relationships/image" Target="/ppt/media/image6.png" Id="Rc85ba2b5ebaf4a0f" /><Relationship Type="http://schemas.openxmlformats.org/officeDocument/2006/relationships/notesSlide" Target="/ppt/notesSlides/notesSlide4.xml" Id="Rcf92cb44fa5347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a1bcd4c424634" /><Relationship Type="http://schemas.openxmlformats.org/officeDocument/2006/relationships/image" Target="/ppt/media/image7.png" Id="Rcc7c3a0e55f2495e" /><Relationship Type="http://schemas.openxmlformats.org/officeDocument/2006/relationships/notesSlide" Target="/ppt/notesSlides/notesSlide5.xml" Id="R49f038ff114d4e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abf8e4d8148e5" /><Relationship Type="http://schemas.openxmlformats.org/officeDocument/2006/relationships/image" Target="/ppt/media/image8.png" Id="R981ab9a174374c82" /><Relationship Type="http://schemas.openxmlformats.org/officeDocument/2006/relationships/image" Target="/ppt/media/image9.png" Id="R0f1297c0089a4441" /><Relationship Type="http://schemas.openxmlformats.org/officeDocument/2006/relationships/image" Target="/ppt/media/image10.png" Id="R69611f7f25c045e2" /><Relationship Type="http://schemas.openxmlformats.org/officeDocument/2006/relationships/notesSlide" Target="/ppt/notesSlides/notesSlide6.xml" Id="R332adc65444240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f0dd8104a41af" /><Relationship Type="http://schemas.openxmlformats.org/officeDocument/2006/relationships/image" Target="/ppt/media/image11.png" Id="Rff2199f48e524b8f" /><Relationship Type="http://schemas.openxmlformats.org/officeDocument/2006/relationships/notesSlide" Target="/ppt/notesSlides/notesSlide7.xml" Id="Rc53d0862bb764e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b605e4775430e" /><Relationship Type="http://schemas.openxmlformats.org/officeDocument/2006/relationships/image" Target="/ppt/media/image12.png" Id="Rb74ae5d3915a4af7" /><Relationship Type="http://schemas.openxmlformats.org/officeDocument/2006/relationships/notesSlide" Target="/ppt/notesSlides/notesSlide8.xml" Id="R4a02c32a0d4f4e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CEAE22-DC35-4E26-A1BF-70110058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392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A0A6D-FAFA-40BE-998C-6B76A0FA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C1E24-2B53-4687-B616-BE5775B9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33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6C85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6C85F"/>
                </a:solidFill>
                <a:latin typeface="Arial"/>
                <a:ea typeface="Arial"/>
                <a:cs typeface="Arial"/>
              </a:rPr>
              <a:t>HACKATHON DEMO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A39AD-E5D0-46B9-8178-D4CCD4A4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200150"/>
            <a:ext cx="2952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9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4875" b="1" i="0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4875" b="1" i="0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ALL RISK,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4875" b="1" i="0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4875" b="1" i="0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NO REWARD.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C3716-5C1A-4C60-9243-73301DE7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695700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4F0E5"/>
                </a:solidFill>
                <a:latin typeface="Arial"/>
                <a:ea typeface="Arial"/>
                <a:cs typeface="Arial"/>
              </a:rPr>
              <a:t>Social courage, gamified—with guardrails.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A3F449-2E74-406B-8873-BB9F5D21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876300" y="5076825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954C3-E233-4BE5-9A6B-A302BBC7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819150" y="50101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9525">
            <a:solidFill>
              <a:srgbClr val="171A17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171A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A17"/>
                </a:solidFill>
                <a:latin typeface="Arial"/>
                <a:ea typeface="Arial"/>
                <a:cs typeface="Arial"/>
              </a:rPr>
              <a:t>AWKWARD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171A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A17"/>
                </a:solidFill>
                <a:latin typeface="Arial"/>
                <a:ea typeface="Arial"/>
                <a:cs typeface="Arial"/>
              </a:rPr>
              <a:t>IS ALLOWED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A7CE2-BCE0-4E4C-BAFD-163457BD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4000">
            <a:off x="4724400" y="847725"/>
            <a:ext cx="6705600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e0d022e86f41c7"/>
          <a:srcRect xmlns:a="http://schemas.openxmlformats.org/drawingml/2006/main" l="5556" t="0" r="5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84000">
            <a:off x="4648200" y="762000"/>
            <a:ext cx="6705600" cy="5238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83F12-3280-45A8-826D-541654CC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4000">
            <a:off x="4648200" y="762000"/>
            <a:ext cx="6705600" cy="523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A1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E7B0B2-DF01-4AE0-B83A-92090255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61912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BE382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E3822"/>
                </a:solidFill>
                <a:latin typeface="Arial"/>
                <a:ea typeface="Arial"/>
                <a:cs typeface="Arial"/>
              </a:rPr>
              <a:t>ONE DAILY DROP. ZERO PUBLIC SHAME.</a:t>
            </a:r>
          </a:p>
        </p:txBody>
      </p:sp>
    </p:spTree>
    <p:extLst>
      <p:ext uri="{BB962C8B-B14F-4D97-AF65-F5344CB8AC3E}">
        <p14:creationId xmlns:p14="http://schemas.microsoft.com/office/powerpoint/2010/main" val="17289864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E13F73-A8CD-4999-B035-ABC1AFFF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81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E382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E3822"/>
                </a:solidFill>
                <a:latin typeface="Arial"/>
                <a:ea typeface="Arial"/>
                <a:cs typeface="Arial"/>
              </a:rPr>
              <a:t>THE ACTUAL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01472-B229-4C5A-B4E9-15C24887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819150"/>
            <a:ext cx="495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00" b="1" i="0">
                <a:solidFill>
                  <a:srgbClr val="171A17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171A17"/>
                </a:solidFill>
                <a:latin typeface="Georgia"/>
                <a:ea typeface="Georgia"/>
                <a:cs typeface="Georgia"/>
              </a:rPr>
              <a:t>Fear is not the bug.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900" b="1" i="0">
                <a:solidFill>
                  <a:srgbClr val="171A17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171A17"/>
                </a:solidFill>
                <a:latin typeface="Georgia"/>
                <a:ea typeface="Georgia"/>
                <a:cs typeface="Georgia"/>
              </a:rPr>
              <a:t>Delay 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FED3A-EC1D-491B-8FB1-2EA721F1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2098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 i="0">
                <a:solidFill>
                  <a:srgbClr val="5A5B5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A5B53"/>
                </a:solidFill>
                <a:latin typeface="Arial"/>
                <a:ea typeface="Arial"/>
                <a:cs typeface="Arial"/>
              </a:rPr>
              <a:t>The gap between “I should” and “I did” eats every good intention.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65114-3012-463C-9D3A-00E44F6B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">
            <a:off x="6267450" y="485775"/>
            <a:ext cx="49530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6c6a05a3db4aa3"/>
          <a:srcRect xmlns:a="http://schemas.openxmlformats.org/drawingml/2006/main" l="0" t="23034" r="0" b="230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2000">
            <a:off x="6191250" y="400050"/>
            <a:ext cx="4953000" cy="4171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34424-142D-4E76-B384-CFD10512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">
            <a:off x="6191250" y="400050"/>
            <a:ext cx="4953000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A1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F5B01-1FA6-4D6C-8C31-52CFB7AA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A1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73296-4A44-41E3-BF7F-8B80C033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67665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E832BE-7DCC-477B-95E5-7D0ADF75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9243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1" i="0">
                <a:solidFill>
                  <a:srgbClr val="233C5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33C5B"/>
                </a:solidFill>
                <a:latin typeface="Arial"/>
                <a:ea typeface="Arial"/>
                <a:cs typeface="Arial"/>
              </a:rPr>
              <a:t>RANDOM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350" b="1" i="0">
                <a:solidFill>
                  <a:srgbClr val="233C5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33C5B"/>
                </a:solidFill>
                <a:latin typeface="Arial"/>
                <a:ea typeface="Arial"/>
                <a:cs typeface="Arial"/>
              </a:rPr>
              <a:t>UNLOCK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A07C0-5C76-4BA4-8A8F-56FFAC28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64820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5A5B5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A5B53"/>
                </a:solidFill>
                <a:latin typeface="Arial"/>
                <a:ea typeface="Arial"/>
                <a:cs typeface="Arial"/>
              </a:rPr>
              <a:t>Surprise interrupts avoidance.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2F22F5-55A5-4AB5-B67A-0823A65B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367665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38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EF6F38-BB82-428C-B857-BC93D023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39243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1" i="0">
                <a:solidFill>
                  <a:srgbClr val="BE382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E3822"/>
                </a:solidFill>
                <a:latin typeface="Arial"/>
                <a:ea typeface="Arial"/>
                <a:cs typeface="Arial"/>
              </a:rPr>
              <a:t>ONE SPECIFIC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350" b="1" i="0">
                <a:solidFill>
                  <a:srgbClr val="BE382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E3822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94499A-28FA-4F92-928B-3D03F528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464820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5A5B5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A5B53"/>
                </a:solidFill>
                <a:latin typeface="Arial"/>
                <a:ea typeface="Arial"/>
                <a:cs typeface="Arial"/>
              </a:rPr>
              <a:t>Small enough to attempt today.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DF975-FC32-48F2-A0CC-F574285F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367665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3BB588-2009-4E29-AAE3-F3528A57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39243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1" i="0">
                <a:solidFill>
                  <a:srgbClr val="233C5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33C5B"/>
                </a:solidFill>
                <a:latin typeface="Arial"/>
                <a:ea typeface="Arial"/>
                <a:cs typeface="Arial"/>
              </a:rPr>
              <a:t>10 PM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350" b="1" i="0">
                <a:solidFill>
                  <a:srgbClr val="233C5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33C5B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38789B-9E6F-41FF-8BFB-5214BE10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464820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5A5B5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A5B53"/>
                </a:solidFill>
                <a:latin typeface="Arial"/>
                <a:ea typeface="Arial"/>
                <a:cs typeface="Arial"/>
              </a:rPr>
              <a:t>The loophole closes on schedule.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CE3E2F-306A-4461-B9BE-A78D109C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0000">
            <a:off x="7029450" y="5076825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84A4F9-B0E4-465A-B16C-38AA2792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0000">
            <a:off x="6972300" y="50101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3822"/>
          </a:solidFill>
          <a:ln xmlns:a="http://schemas.openxmlformats.org/drawingml/2006/main" w="9525">
            <a:solidFill>
              <a:srgbClr val="171A17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FFFDF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DF7"/>
                </a:solidFill>
                <a:latin typeface="Arial"/>
                <a:ea typeface="Arial"/>
                <a:cs typeface="Arial"/>
              </a:rPr>
              <a:t>YOUR COMFORT ZONE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FFFDF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DF7"/>
                </a:solidFill>
                <a:latin typeface="Arial"/>
                <a:ea typeface="Arial"/>
                <a:cs typeface="Arial"/>
              </a:rPr>
              <a:t>CALLED. WE DECLINED.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E59388-3754-492A-9970-93B01E0F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960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233C5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33C5B"/>
                </a:solidFill>
                <a:latin typeface="Arial"/>
                <a:ea typeface="Arial"/>
                <a:cs typeface="Arial"/>
              </a:rPr>
              <a:t>ALL RISK, NO REWARD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254F5E-D32D-4AD4-A897-1F7D531A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0" y="64960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233C5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33C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130351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3C7CE4-2D3D-4400-9419-6350EF71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81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E382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E3822"/>
                </a:solidFill>
                <a:latin typeface="Arial"/>
                <a:ea typeface="Arial"/>
                <a:cs typeface="Arial"/>
              </a:rPr>
              <a:t>THE DAILY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DB53D-41B0-4BAB-9F72-9E8F307B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750" b="1" i="0">
                <a:solidFill>
                  <a:srgbClr val="171A17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171A17"/>
                </a:solidFill>
                <a:latin typeface="Georgia"/>
                <a:ea typeface="Georgia"/>
                <a:cs typeface="Georgia"/>
              </a:rPr>
              <a:t>One day. One card.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750" b="1" i="0">
                <a:solidFill>
                  <a:srgbClr val="171A17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171A17"/>
                </a:solidFill>
                <a:latin typeface="Georgia"/>
                <a:ea typeface="Georgia"/>
                <a:cs typeface="Georgia"/>
              </a:rPr>
              <a:t>One honest receipt.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AAE78-DE2B-401C-BB83-4F30D0CE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11049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650" b="1" i="0">
                <a:solidFill>
                  <a:srgbClr val="BE382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BE3822"/>
                </a:solidFill>
                <a:latin typeface="Arial"/>
                <a:ea typeface="Arial"/>
                <a:cs typeface="Arial"/>
              </a:rPr>
              <a:t>No feed. No doom-scroll. Just one rep.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2AE92-BFB6-43A5-B162-EE71F5E2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1526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233C5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33C5B"/>
                </a:solidFill>
                <a:latin typeface="Arial"/>
                <a:ea typeface="Arial"/>
                <a:cs typeface="Arial"/>
              </a:rPr>
              <a:t>01 · DEAL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3CC07-C302-4327-A4BB-FC0922D6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666750" y="2524125"/>
            <a:ext cx="3048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90e0af543e4d38"/>
          <a:srcRect xmlns:a="http://schemas.openxmlformats.org/drawingml/2006/main" l="8848" t="0" r="88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60000">
            <a:off x="609600" y="2457450"/>
            <a:ext cx="3048000" cy="2571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FD4AE-7CF4-4C91-AA69-6B3BF9C4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609600" y="2457450"/>
            <a:ext cx="3048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A1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D576F-4A3C-47CA-AB90-71BA8B27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2197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5A5B5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A5B53"/>
                </a:solidFill>
                <a:latin typeface="Arial"/>
                <a:ea typeface="Arial"/>
                <a:cs typeface="Arial"/>
              </a:rPr>
              <a:t>A level-appropriate social challenge unlocks during the day.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6FF33-9EBF-4944-BC97-2FB54485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0050" y="21526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E382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E3822"/>
                </a:solidFill>
                <a:latin typeface="Arial"/>
                <a:ea typeface="Arial"/>
                <a:cs typeface="Arial"/>
              </a:rPr>
              <a:t>02 · 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D06B5-C322-4C77-90ED-1DE322C7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2524125"/>
            <a:ext cx="3048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ba4ba253042c1"/>
          <a:srcRect xmlns:a="http://schemas.openxmlformats.org/drawingml/2006/main" l="8848" t="0" r="88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10050" y="2457450"/>
            <a:ext cx="3048000" cy="2571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288ED-13EF-4C72-887B-4221C3F4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0050" y="2457450"/>
            <a:ext cx="3048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A1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3FADD-8613-463D-A706-E9C0059A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0050" y="52197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5A5B5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A5B53"/>
                </a:solidFill>
                <a:latin typeface="Arial"/>
                <a:ea typeface="Arial"/>
                <a:cs typeface="Arial"/>
              </a:rPr>
              <a:t>Add a private note—and optional cleaned media—with concrete details.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CE13B-A63E-475A-9AB1-4CCC6A81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21526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233C5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33C5B"/>
                </a:solidFill>
                <a:latin typeface="Arial"/>
                <a:ea typeface="Arial"/>
                <a:cs typeface="Arial"/>
              </a:rPr>
              <a:t>03 ·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B2E08-D60C-4AE2-8D9F-3755FE95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7867650" y="2524125"/>
            <a:ext cx="3048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5e6504a984d8a"/>
          <a:srcRect xmlns:a="http://schemas.openxmlformats.org/drawingml/2006/main" l="8848" t="0" r="88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0000">
            <a:off x="7810500" y="2457450"/>
            <a:ext cx="3048000" cy="25717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996011-163F-48AB-A80B-29B82DD4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7810500" y="2457450"/>
            <a:ext cx="3048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A1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BF5DD5-89E9-48C6-9386-79EEEA43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52197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5A5B5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A5B53"/>
                </a:solidFill>
                <a:latin typeface="Arial"/>
                <a:ea typeface="Arial"/>
                <a:cs typeface="Arial"/>
              </a:rPr>
              <a:t>Full, partial, or needs-more becomes points, streaks, levels, and history.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D16D76-4AE4-4BE9-BCB8-B10CCE41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000750"/>
            <a:ext cx="10820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3D79BB-81C9-41EB-BB9F-CE3246DA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5100" y="6057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6C85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6C85F"/>
                </a:solidFill>
                <a:latin typeface="Arial"/>
                <a:ea typeface="Arial"/>
                <a:cs typeface="Arial"/>
              </a:rPr>
              <a:t>120 FULL CREDIT   ·   60 PARTIAL CREDIT   ·   0 NEEDS MORE DETAIL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E17380-4318-4C78-9A93-55A20C8A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960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233C5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33C5B"/>
                </a:solidFill>
                <a:latin typeface="Arial"/>
                <a:ea typeface="Arial"/>
                <a:cs typeface="Arial"/>
              </a:rPr>
              <a:t>ALL RISK, NO REWARD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1FC24F-03BA-43B8-AC1C-FD902B0C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0" y="64960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233C5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33C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317628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33C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D99001-83B7-4BBE-951E-5B5E5B52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00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6C85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6C85F"/>
                </a:solidFill>
                <a:latin typeface="Arial"/>
                <a:ea typeface="Arial"/>
                <a:cs typeface="Arial"/>
              </a:rPr>
              <a:t>PROOF WITHOUT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08F0E-EB49-470A-819D-9C068B0A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8382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825" b="1" i="0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3825" b="1" i="0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AI scores evidence—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825" b="1" i="0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3825" b="1" i="0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not your worth.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07E7B-FEE4-4746-85B0-DCC4CA8A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20980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 i="0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4F0E5"/>
                </a:solidFill>
                <a:latin typeface="Arial"/>
                <a:ea typeface="Arial"/>
                <a:cs typeface="Arial"/>
              </a:rPr>
              <a:t>The system asks: did a concrete action happen? It never asks whether you were charismatic enough.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D4F45-8920-430D-9236-012BFC72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">
            <a:off x="6686550" y="733425"/>
            <a:ext cx="4476750" cy="539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ba2b5ebaf4a0f"/>
          <a:srcRect xmlns:a="http://schemas.openxmlformats.org/drawingml/2006/main" l="21167" t="0" r="211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2000">
            <a:off x="6610350" y="647700"/>
            <a:ext cx="4476750" cy="5391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48C0E-09E8-4AB3-B4B1-9C1ABC9E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">
            <a:off x="6610350" y="647700"/>
            <a:ext cx="4476750" cy="539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A1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DAACB-882D-4E07-ADA4-051A0D42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371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6C85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6C8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06F73-E7D2-49BA-A056-EFECEE44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33813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DF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DF7"/>
                </a:solidFill>
                <a:latin typeface="Arial"/>
                <a:ea typeface="Arial"/>
                <a:cs typeface="Arial"/>
              </a:rPr>
              <a:t>CONCRETE &gt; PERFORMATIVE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CB9A3-C5C8-4D9B-9889-0D5FA758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3638550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4F0E5"/>
                </a:solidFill>
                <a:latin typeface="Arial"/>
                <a:ea typeface="Arial"/>
                <a:cs typeface="Arial"/>
              </a:rPr>
              <a:t>Specific actions and reflection earn the score.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82D52-7683-45D1-9191-EA49E579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1529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6C85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6C8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AFA47-B40A-4259-93CD-DC6CEFAA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41624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DF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DF7"/>
                </a:solidFill>
                <a:latin typeface="Arial"/>
                <a:ea typeface="Arial"/>
                <a:cs typeface="Arial"/>
              </a:rPr>
              <a:t>IDENTIFYING DETAILS: NOPE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B9B02-D82E-463C-AFA3-E7B241C7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4419600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4F0E5"/>
                </a:solidFill>
                <a:latin typeface="Arial"/>
                <a:ea typeface="Arial"/>
                <a:cs typeface="Arial"/>
              </a:rPr>
              <a:t>Names, faces, contacts, and private replies are never required.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D8F64-CD31-4849-9887-6212284E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933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6C85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6C8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5D341-3BFA-433A-95F4-B7028777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49434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DF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DF7"/>
                </a:solidFill>
                <a:latin typeface="Arial"/>
                <a:ea typeface="Arial"/>
                <a:cs typeface="Arial"/>
              </a:rPr>
              <a:t>CONSENT BEFORE GEMINI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C1BBC5-83FA-4D3E-9960-2ED6EA7D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5200650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4F0E5"/>
                </a:solidFill>
                <a:latin typeface="Arial"/>
                <a:ea typeface="Arial"/>
                <a:cs typeface="Arial"/>
              </a:rPr>
              <a:t>Hosted mode asks explicitly before automated assessment.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539A61-3DC9-4FB5-B885-EF20BB5B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7353300" y="5553075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79D0B-119A-443C-B243-1B05F670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7296150" y="548640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9525">
            <a:solidFill>
              <a:srgbClr val="171A17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1">
                <a:solidFill>
                  <a:srgbClr val="171A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A17"/>
                </a:solidFill>
                <a:latin typeface="Arial"/>
                <a:ea typeface="Arial"/>
                <a:cs typeface="Arial"/>
              </a:rPr>
              <a:t>AI OFFERS A SCORE.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00" b="1">
                <a:solidFill>
                  <a:srgbClr val="171A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A17"/>
                </a:solidFill>
                <a:latin typeface="Arial"/>
                <a:ea typeface="Arial"/>
                <a:cs typeface="Arial"/>
              </a:rPr>
              <a:t>NEVER A MORAL JUDGMENT.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D69E03-B2DC-4A49-B115-635183B0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960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F0E5"/>
                </a:solidFill>
                <a:latin typeface="Arial"/>
                <a:ea typeface="Arial"/>
                <a:cs typeface="Arial"/>
              </a:rPr>
              <a:t>ALL RISK, NO REWARD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1AF345-9F63-4284-83F0-85199DA3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0" y="64960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F0E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901958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669DF7-08ED-42D2-862F-1A07D745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81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E382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E3822"/>
                </a:solidFill>
                <a:latin typeface="Arial"/>
                <a:ea typeface="Arial"/>
                <a:cs typeface="Arial"/>
              </a:rPr>
              <a:t>FAILURE IS A GAME STATE, NOT A CHARACTER FLAW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89CE4-3F75-4361-AEEE-A08B33CB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81050"/>
            <a:ext cx="5619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750" b="1" i="0">
                <a:solidFill>
                  <a:srgbClr val="171A17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171A17"/>
                </a:solidFill>
                <a:latin typeface="Georgia"/>
                <a:ea typeface="Georgia"/>
                <a:cs typeface="Georgia"/>
              </a:rPr>
              <a:t>Missed it? The app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750" b="1" i="0">
                <a:solidFill>
                  <a:srgbClr val="171A17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171A17"/>
                </a:solidFill>
                <a:latin typeface="Georgia"/>
                <a:ea typeface="Georgia"/>
                <a:cs typeface="Georgia"/>
              </a:rPr>
              <a:t>rolls dice. Literally.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2DE7C-E11E-465C-80CB-8120C67E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2098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5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 i="0">
                <a:solidFill>
                  <a:srgbClr val="5A5B5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A5B53"/>
                </a:solidFill>
                <a:latin typeface="Arial"/>
                <a:ea typeface="Arial"/>
                <a:cs typeface="Arial"/>
              </a:rPr>
              <a:t>A partial or missed challenge creates a bounded, private recovery task—then makes closing the loop weirdly compelling.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41D22-64FE-4DDF-BD9E-69B26422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6419850" y="542925"/>
            <a:ext cx="4857750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c3a0e55f2495e"/>
          <a:srcRect xmlns:a="http://schemas.openxmlformats.org/drawingml/2006/main" l="6926" t="0" r="6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0000">
            <a:off x="6343650" y="457200"/>
            <a:ext cx="4857750" cy="56388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D5BB0-1AAA-4A5D-8D5E-DB47FCC6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6343650" y="457200"/>
            <a:ext cx="4857750" cy="563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A1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EB375-3873-4CB4-A7EE-7A806018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A1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E27B6-1F91-419B-B796-5BEDF8CB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6004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233C5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33C5B"/>
                </a:solidFill>
                <a:latin typeface="Arial"/>
                <a:ea typeface="Arial"/>
                <a:cs typeface="Arial"/>
              </a:rPr>
              <a:t>PRIVATE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9B8CF-7687-4991-814C-12A5F51E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857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5A5B5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A5B53"/>
                </a:solidFill>
                <a:latin typeface="Arial"/>
                <a:ea typeface="Arial"/>
                <a:cs typeface="Arial"/>
              </a:rPr>
              <a:t>No public penalty. No shame spiral.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A41ED-5BA6-4142-A047-6B03178A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243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BE382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E3822"/>
                </a:solidFill>
                <a:latin typeface="Arial"/>
                <a:ea typeface="Arial"/>
                <a:cs typeface="Arial"/>
              </a:rPr>
              <a:t>2 IRREVERSIBLE ROLLS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5F069-B145-49A8-A848-841CB676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5815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5A5B5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A5B53"/>
                </a:solidFill>
                <a:latin typeface="Arial"/>
                <a:ea typeface="Arial"/>
                <a:cs typeface="Arial"/>
              </a:rPr>
              <a:t>Easier or harder. Never a repeat for that account.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9FB48B-6470-4771-8EEB-BBA96FF5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0482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233C5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33C5B"/>
                </a:solidFill>
                <a:latin typeface="Arial"/>
                <a:ea typeface="Arial"/>
                <a:cs typeface="Arial"/>
              </a:rPr>
              <a:t>CLOSE THE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734D3-AD0E-4D6C-ADDE-355A567D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3054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5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5A5B5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A5B53"/>
                </a:solidFill>
                <a:latin typeface="Arial"/>
                <a:ea typeface="Arial"/>
                <a:cs typeface="Arial"/>
              </a:rPr>
              <a:t>Finish the task—or spend a banked lifeline—to unlock what comes next.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322F9-27C7-4C11-80A7-DEFC5FB3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1085850" y="583882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5A829-BC35-4CF3-83EF-FC9BA5B5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1028700" y="57721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3822"/>
          </a:solidFill>
          <a:ln xmlns:a="http://schemas.openxmlformats.org/drawingml/2006/main" w="9525">
            <a:solidFill>
              <a:srgbClr val="171A17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1">
                <a:solidFill>
                  <a:srgbClr val="FFFD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DF7"/>
                </a:solidFill>
                <a:latin typeface="Arial"/>
                <a:ea typeface="Arial"/>
                <a:cs typeface="Arial"/>
              </a:rPr>
              <a:t>COULD GET WORSE.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00" b="1">
                <a:solidFill>
                  <a:srgbClr val="FFFD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DF7"/>
                </a:solidFill>
                <a:latin typeface="Arial"/>
                <a:ea typeface="Arial"/>
                <a:cs typeface="Arial"/>
              </a:rPr>
              <a:t>THAT'S THE BIT.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7FF7C7-1212-4CA8-9E30-07344A50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960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233C5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33C5B"/>
                </a:solidFill>
                <a:latin typeface="Arial"/>
                <a:ea typeface="Arial"/>
                <a:cs typeface="Arial"/>
              </a:rPr>
              <a:t>ALL RISK, NO REWARD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EB90AC-0BFC-46C4-83B1-031E786B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0" y="64960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233C5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33C5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11233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BE38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1C6A97-DB41-4962-8FD6-4EDDBD90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00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6C85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6C85F"/>
                </a:solidFill>
                <a:latin typeface="Arial"/>
                <a:ea typeface="Arial"/>
                <a:cs typeface="Arial"/>
              </a:rPr>
              <a:t>OPTIONAL CHAOS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5FD50-7B21-49ED-A4A9-0AF3F070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800100"/>
            <a:ext cx="657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00" b="1" i="0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Finish too fast and the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900" b="1" i="0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app gets suspicious.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C2258-928A-4FFF-A6B7-C606FDD8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190750"/>
            <a:ext cx="590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 i="0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4F0E5"/>
                </a:solidFill>
                <a:latin typeface="Arial"/>
                <a:ea typeface="Arial"/>
                <a:cs typeface="Arial"/>
              </a:rPr>
              <a:t>Complete quickly and a bonus card may appear. Do one more tiny rep, then flip the reward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F187A-75B8-481D-8194-9AC7147B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">
            <a:off x="762000" y="3305175"/>
            <a:ext cx="4095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ab9a174374c82"/>
          <a:srcRect xmlns:a="http://schemas.openxmlformats.org/drawingml/2006/main" l="0" t="4264" r="0" b="42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72000">
            <a:off x="685800" y="3219450"/>
            <a:ext cx="4095750" cy="2857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3BD79-A57C-46B4-8502-F34875C1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">
            <a:off x="685800" y="3219450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A1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F3C44-B780-4222-A30A-06A91EA1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6191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DF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DF7"/>
                </a:solidFill>
                <a:latin typeface="Arial"/>
                <a:ea typeface="Arial"/>
                <a:cs typeface="Arial"/>
              </a:rPr>
              <a:t>DO THE BONUS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493FE-9346-42AC-A3F3-23EAF9BB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9300" y="31813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6C85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6C85F"/>
                </a:solidFill>
                <a:latin typeface="Arial"/>
                <a:ea typeface="Arial"/>
                <a:cs typeface="Arial"/>
              </a:rPr>
              <a:t>THEN THE GAME CHOOSES: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CDE42-5043-4E5A-96C8-B9710BAC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">
            <a:off x="5886450" y="3686175"/>
            <a:ext cx="2457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C5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297c0089a4441"/>
          <a:srcRect xmlns:a="http://schemas.openxmlformats.org/drawingml/2006/main" l="5277" t="0" r="52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90000">
            <a:off x="5810250" y="3600450"/>
            <a:ext cx="2457450" cy="209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53DD7-29EC-4A3F-88BD-32072D60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">
            <a:off x="5810250" y="3600450"/>
            <a:ext cx="24574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A1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98915-99AA-4B52-9426-CA82D3A6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0000">
            <a:off x="8877300" y="3686175"/>
            <a:ext cx="2457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C5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11f7f25c045e2"/>
          <a:srcRect xmlns:a="http://schemas.openxmlformats.org/drawingml/2006/main" l="5277" t="0" r="52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90000">
            <a:off x="8801100" y="3600450"/>
            <a:ext cx="2457450" cy="20955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B99E6E-2EA6-4551-8BF9-485CE576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0000">
            <a:off x="8801100" y="3600450"/>
            <a:ext cx="24574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A1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7DAD76-C91A-4A2D-83F6-415B4BA3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59245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FFFDF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DF7"/>
                </a:solidFill>
                <a:latin typeface="Arial"/>
                <a:ea typeface="Arial"/>
                <a:cs typeface="Arial"/>
              </a:rPr>
              <a:t>BANK A LIFELINE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ECB36-63EF-4E9A-9801-4B6899D1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00" y="59245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FFFDF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DF7"/>
                </a:solidFill>
                <a:latin typeface="Arial"/>
                <a:ea typeface="Arial"/>
                <a:cs typeface="Arial"/>
              </a:rPr>
              <a:t>ABSOLUTELY NOTHING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F63D84-417B-4AA1-B743-DB5FECA9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960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F0E5"/>
                </a:solidFill>
                <a:latin typeface="Arial"/>
                <a:ea typeface="Arial"/>
                <a:cs typeface="Arial"/>
              </a:rPr>
              <a:t>ALL RISK, NO REWARD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F0049E-715D-4A4F-8F73-84183C9D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0" y="64960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F0E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71714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5A4FD7-44FB-4ECC-A62F-EA98E14A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81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E382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E3822"/>
                </a:solidFill>
                <a:latin typeface="Arial"/>
                <a:ea typeface="Arial"/>
                <a:cs typeface="Arial"/>
              </a:rPr>
              <a:t>THE BACKBONE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8CF88-1776-47E2-958F-E0746131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62000"/>
            <a:ext cx="514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750" b="1" i="0">
                <a:solidFill>
                  <a:srgbClr val="171A17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171A17"/>
                </a:solidFill>
                <a:latin typeface="Georgia"/>
                <a:ea typeface="Georgia"/>
                <a:cs typeface="Georgia"/>
              </a:rPr>
              <a:t>Fun on top.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750" b="1" i="0">
                <a:solidFill>
                  <a:srgbClr val="171A17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171A17"/>
                </a:solidFill>
                <a:latin typeface="Georgia"/>
                <a:ea typeface="Georgia"/>
                <a:cs typeface="Georgia"/>
              </a:rPr>
              <a:t>Serious underneath.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12084-7860-421C-875C-D0E7020D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17170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5A5B5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B53"/>
                </a:solidFill>
                <a:latin typeface="Arial"/>
                <a:ea typeface="Arial"/>
                <a:cs typeface="Arial"/>
              </a:rPr>
              <a:t>The hackathon demo works with no cloud keys—and has a real hosted path when the room gets serious.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F863D-D76B-4834-8649-34E08AB9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248025"/>
            <a:ext cx="114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8A303-4600-47F3-8A5E-2AF0CF9D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2194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3C5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3C5B"/>
                </a:solidFill>
                <a:latin typeface="Arial"/>
                <a:ea typeface="Arial"/>
                <a:cs typeface="Arial"/>
              </a:rPr>
              <a:t>OFFLINE-FIRST PWA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D1377-1B2F-4817-A04E-FF0AB175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47662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5B5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A5B53"/>
                </a:solidFill>
                <a:latin typeface="Arial"/>
                <a:ea typeface="Arial"/>
                <a:cs typeface="Arial"/>
              </a:rPr>
              <a:t>Local auth, 30-day sessions, deterministic daily assignments, cached offline reload.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975A0-13B3-414D-950D-9F735A65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971925"/>
            <a:ext cx="114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38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92EFD-4CDA-4638-8AC8-399AA7B8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9433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3C5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3C5B"/>
                </a:solidFill>
                <a:latin typeface="Arial"/>
                <a:ea typeface="Arial"/>
                <a:cs typeface="Arial"/>
              </a:rPr>
              <a:t>LOCAL OR HOSTED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C72BE-270D-4ABC-8A9C-9D483792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20052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5B5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A5B53"/>
                </a:solidFill>
                <a:latin typeface="Arial"/>
                <a:ea typeface="Arial"/>
                <a:cs typeface="Arial"/>
              </a:rPr>
              <a:t>React + TypeScript + Vite; optional InsForge auth, RLS, schedules, and secure Gemini proxy.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31A72-E678-4648-B13B-026C10E2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695825"/>
            <a:ext cx="114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77C14-3B0E-4D0E-9E2A-CC3F93D2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667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3C5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3C5B"/>
                </a:solidFill>
                <a:latin typeface="Arial"/>
                <a:ea typeface="Arial"/>
                <a:cs typeface="Arial"/>
              </a:rPr>
              <a:t>AGENCY BUILT 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49456-9F08-4552-8E75-247B1C01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92442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5B5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A5B53"/>
                </a:solidFill>
                <a:latin typeface="Arial"/>
                <a:ea typeface="Arial"/>
                <a:cs typeface="Arial"/>
              </a:rPr>
              <a:t>Report or replace; filter categories and formats; nothing is auto-sent or auto-posted.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BF03C6-1B30-47CE-B327-54C98420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419725"/>
            <a:ext cx="114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F7F010-18CA-4B2A-B226-19E03989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53911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3C5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3C5B"/>
                </a:solidFill>
                <a:latin typeface="Arial"/>
                <a:ea typeface="Arial"/>
                <a:cs typeface="Arial"/>
              </a:rPr>
              <a:t>SHARE BY CHOICE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784EEF-FAFC-46BB-BC50-BE7D9A16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564832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5B5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A5B53"/>
                </a:solidFill>
                <a:latin typeface="Arial"/>
                <a:ea typeface="Arial"/>
                <a:cs typeface="Arial"/>
              </a:rPr>
              <a:t>Generate a branded result card. Private proof, reflections, contacts, and account details stay out.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E8D92A-EF81-46E3-91F1-48EC2460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000">
            <a:off x="6572250" y="638175"/>
            <a:ext cx="4495800" cy="546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199f48e524b8f"/>
          <a:srcRect xmlns:a="http://schemas.openxmlformats.org/drawingml/2006/main" l="21448" t="0" r="214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6000">
            <a:off x="6496050" y="552450"/>
            <a:ext cx="4495800" cy="54673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4ACC4B-17D7-42F3-A544-E40F9CEC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000">
            <a:off x="6496050" y="552450"/>
            <a:ext cx="4495800" cy="546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A1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5D4573-2016-40B8-8B6C-F7DA46C1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0000">
            <a:off x="7905750" y="5629275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CDCB8B-8FC8-4BB2-A084-73BB731E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0000">
            <a:off x="7848600" y="556260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9525">
            <a:solidFill>
              <a:srgbClr val="171A17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75" b="1">
                <a:solidFill>
                  <a:srgbClr val="171A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A17"/>
                </a:solidFill>
                <a:latin typeface="Arial"/>
                <a:ea typeface="Arial"/>
                <a:cs typeface="Arial"/>
              </a:rPr>
              <a:t>RESULTS OUT.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75" b="1">
                <a:solidFill>
                  <a:srgbClr val="171A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A17"/>
                </a:solidFill>
                <a:latin typeface="Arial"/>
                <a:ea typeface="Arial"/>
                <a:cs typeface="Arial"/>
              </a:rPr>
              <a:t>PRIVATE DETAILS IN.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3DE65B-419D-4050-8617-2654BA35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960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233C5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33C5B"/>
                </a:solidFill>
                <a:latin typeface="Arial"/>
                <a:ea typeface="Arial"/>
                <a:cs typeface="Arial"/>
              </a:rPr>
              <a:t>ALL RISK, NO REWARD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232341-E200-4B0C-A500-113EB63B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0" y="64960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233C5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33C5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855505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33C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D3B40B-3957-4CFB-95C8-423F2B56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42429-0731-4227-9095-2DF20C64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6C85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6C85F"/>
                </a:solidFill>
                <a:latin typeface="Arial"/>
                <a:ea typeface="Arial"/>
                <a:cs typeface="Arial"/>
              </a:rPr>
              <a:t>THE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C8C2C-5666-4F83-BA84-2558440B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009650"/>
            <a:ext cx="5715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3000"/>
              </a:lnSpc>
              <a:buNone/>
              <a:defRPr sz="5250" b="1" i="0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5250" b="1" i="0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AVOIDANCE</a:t>
            </a:r>
          </a:p>
          <a:p xmlns:a="http://schemas.openxmlformats.org/drawingml/2006/main">
            <a:pPr algn="l">
              <a:lnSpc>
                <a:spcPct val="83000"/>
              </a:lnSpc>
              <a:buNone/>
              <a:defRPr sz="5250" b="1" i="0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5250" b="1" i="0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HAS A</a:t>
            </a:r>
          </a:p>
          <a:p xmlns:a="http://schemas.openxmlformats.org/drawingml/2006/main">
            <a:pPr algn="l">
              <a:lnSpc>
                <a:spcPct val="83000"/>
              </a:lnSpc>
              <a:buNone/>
              <a:defRPr sz="5250" b="1" i="0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5250" b="1" i="0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DEADLINE.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9B653-4318-456F-ACFA-96858B1B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057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4F0E5"/>
                </a:solidFill>
                <a:latin typeface="Arial"/>
                <a:ea typeface="Arial"/>
                <a:cs typeface="Arial"/>
              </a:rPr>
              <a:t>Open the demo. Do one brave thing.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E68DF-4C5C-456C-91DA-8DBEBF6C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6291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4F0E5"/>
                </a:solidFill>
                <a:latin typeface="Arial"/>
                <a:ea typeface="Arial"/>
                <a:cs typeface="Arial"/>
              </a:rPr>
              <a:t>No card. No public posting. No pretending this isn't a little scary.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C55B3-87CA-44A0-AF1A-608FA513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0000">
            <a:off x="895350" y="5686425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0E74A-06F9-4321-91EC-48B6AE85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0000">
            <a:off x="838200" y="56197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3822"/>
          </a:solidFill>
          <a:ln xmlns:a="http://schemas.openxmlformats.org/drawingml/2006/main" w="9525">
            <a:solidFill>
              <a:srgbClr val="171A17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FFFDF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7"/>
                </a:solidFill>
                <a:latin typeface="Arial"/>
                <a:ea typeface="Arial"/>
                <a:cs typeface="Arial"/>
              </a:rPr>
              <a:t>LET'S DEMO IT 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8340B-4BC9-4C46-8112-B75C02CB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7600950" y="561975"/>
            <a:ext cx="32385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ae5d3915a4af7"/>
          <a:srcRect xmlns:a="http://schemas.openxmlformats.org/drawingml/2006/main" l="0" t="24776" r="0" b="247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20000">
            <a:off x="7524750" y="476250"/>
            <a:ext cx="3238500" cy="5810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A8F39-919B-4C72-B922-9BED6755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7524750" y="476250"/>
            <a:ext cx="32385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A1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A0C0E6-919A-4567-BB84-0EA87EF8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0" y="6400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6C85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6C85F"/>
                </a:solidFill>
                <a:latin typeface="Arial"/>
                <a:ea typeface="Arial"/>
                <a:cs typeface="Arial"/>
              </a:rPr>
              <a:t>ALL RISK, NO REWARD</a:t>
            </a:r>
          </a:p>
        </p:txBody>
      </p:sp>
    </p:spTree>
    <p:extLst>
      <p:ext uri="{BB962C8B-B14F-4D97-AF65-F5344CB8AC3E}">
        <p14:creationId xmlns:p14="http://schemas.microsoft.com/office/powerpoint/2010/main" val="15869401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2026-07-12T21:13:11.4010000Z</dcterms:created>
  <dcterms:modified xsi:type="dcterms:W3CDTF">2026-07-12T21:13:11.4010000Z</dcterms:modified>
</coreProperties>
</file>